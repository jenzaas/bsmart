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2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30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bSmart plainly as an AI harness: an operating layer around an AI model. Emphasize continuity, discipline, and human control rather than presenting it as another model or a sales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overview: Work covers projects, tasks, and workdocs. Knowledge covers library, decisions, and history. System covers safety, setup, and optional extensions. Keep the framing user-facing and avoid an exhaustive technical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loop: projects provide context, protocols guide work, safety keeps it deliberate, handoffs preserve continuity, and the library makes proven knowledge reusable. This is the value of the harness as a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11480"/>
            <a:ext cx="969264" cy="310896"/>
          </a:xfrm>
          <a:prstGeom prst="roundRect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96926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85800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bSmart is an AI harness.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74519"/>
            <a:ext cx="672084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0" i="0">
                <a:solidFill>
                  <a:srgbClr val="DAE2EF"/>
                </a:solidFill>
                <a:latin typeface="Aptos"/>
              </a:rPr>
              <a:t>A lightweight operating layer that gives AI agents
context, continuity, and a safer way to get work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962656"/>
            <a:ext cx="6309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1">
                <a:solidFill>
                  <a:srgbClr val="F5BE43"/>
                </a:solidFill>
                <a:latin typeface="Aptos"/>
              </a:rPr>
              <a:t>It works around the model—not instead of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103120" cy="1234440"/>
          </a:xfrm>
          <a:prstGeom prst="roundRect">
            <a:avLst/>
          </a:prstGeom>
          <a:solidFill>
            <a:srgbClr val="27354E"/>
          </a:solidFill>
          <a:ln w="13970">
            <a:solidFill>
              <a:srgbClr val="27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4160520"/>
            <a:ext cx="256032" cy="256032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142231"/>
            <a:ext cx="1444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A89DC"/>
                </a:solidFill>
                <a:latin typeface="Aptos"/>
              </a:rPr>
              <a:t>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535424"/>
            <a:ext cx="17373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Projects and memory
carry work forward.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3977639"/>
            <a:ext cx="2103120" cy="1234440"/>
          </a:xfrm>
          <a:prstGeom prst="roundRect">
            <a:avLst/>
          </a:prstGeom>
          <a:solidFill>
            <a:srgbClr val="27354E"/>
          </a:solidFill>
          <a:ln w="13970">
            <a:solidFill>
              <a:srgbClr val="27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08960" y="4160520"/>
            <a:ext cx="256032" cy="256032"/>
          </a:xfrm>
          <a:prstGeom prst="ellipse">
            <a:avLst/>
          </a:prstGeom>
          <a:solidFill>
            <a:srgbClr val="49BE97"/>
          </a:solidFill>
          <a:ln w="13970">
            <a:solidFill>
              <a:srgbClr val="49B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4142231"/>
            <a:ext cx="1444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49BE97"/>
                </a:solidFill>
                <a:latin typeface="Aptos"/>
              </a:rPr>
              <a:t>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535424"/>
            <a:ext cx="17373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Protocols turn good
intent into repeatable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3977639"/>
            <a:ext cx="2103120" cy="1234440"/>
          </a:xfrm>
          <a:prstGeom prst="roundRect">
            <a:avLst/>
          </a:prstGeom>
          <a:solidFill>
            <a:srgbClr val="27354E"/>
          </a:solidFill>
          <a:ln w="13970">
            <a:solidFill>
              <a:srgbClr val="27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13248" y="4160520"/>
            <a:ext cx="256032" cy="256032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51576" y="4142231"/>
            <a:ext cx="1444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F26752"/>
                </a:solidFill>
                <a:latin typeface="Aptos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4535424"/>
            <a:ext cx="17373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Visible, approval-aware
actions keep humans in charge.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115568"/>
            <a:ext cx="3886200" cy="4315968"/>
          </a:xfrm>
          <a:prstGeom prst="roundRect">
            <a:avLst/>
          </a:prstGeom>
          <a:solidFill>
            <a:srgbClr val="182642"/>
          </a:solidFill>
          <a:ln w="13970">
            <a:solidFill>
              <a:srgbClr val="4F6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1389888"/>
            <a:ext cx="32461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B2C3DD"/>
                </a:solidFill>
                <a:latin typeface="Aptos"/>
              </a:rPr>
              <a:t>THE HARNESS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8284464" y="2185415"/>
            <a:ext cx="1024128" cy="1060705"/>
          </a:xfrm>
          <a:prstGeom prst="line">
            <a:avLst/>
          </a:prstGeom>
          <a:ln w="13970">
            <a:solidFill>
              <a:srgbClr val="5B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308592" y="2185415"/>
            <a:ext cx="1536192" cy="1060705"/>
          </a:xfrm>
          <a:prstGeom prst="line">
            <a:avLst/>
          </a:prstGeom>
          <a:ln w="13970">
            <a:solidFill>
              <a:srgbClr val="5B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284464" y="3246120"/>
            <a:ext cx="1024128" cy="1225296"/>
          </a:xfrm>
          <a:prstGeom prst="line">
            <a:avLst/>
          </a:prstGeom>
          <a:ln w="13970">
            <a:solidFill>
              <a:srgbClr val="5B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08592" y="3246120"/>
            <a:ext cx="1536192" cy="1225296"/>
          </a:xfrm>
          <a:prstGeom prst="line">
            <a:avLst/>
          </a:prstGeom>
          <a:ln w="13970">
            <a:solidFill>
              <a:srgbClr val="5B7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67928" y="2560320"/>
            <a:ext cx="1481328" cy="1481328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67928" y="2962656"/>
            <a:ext cx="148132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7" name="Oval 26"/>
          <p:cNvSpPr/>
          <p:nvPr/>
        </p:nvSpPr>
        <p:spPr>
          <a:xfrm>
            <a:off x="7909560" y="1783080"/>
            <a:ext cx="438912" cy="438912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53528" y="2313432"/>
            <a:ext cx="960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29" name="Oval 28"/>
          <p:cNvSpPr/>
          <p:nvPr/>
        </p:nvSpPr>
        <p:spPr>
          <a:xfrm>
            <a:off x="10469880" y="1783080"/>
            <a:ext cx="438912" cy="438912"/>
          </a:xfrm>
          <a:prstGeom prst="ellipse">
            <a:avLst/>
          </a:prstGeom>
          <a:solidFill>
            <a:srgbClr val="49BE97"/>
          </a:solidFill>
          <a:ln w="13970">
            <a:solidFill>
              <a:srgbClr val="49B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13848" y="2313432"/>
            <a:ext cx="960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PROTOCOLS</a:t>
            </a:r>
          </a:p>
        </p:txBody>
      </p:sp>
      <p:sp>
        <p:nvSpPr>
          <p:cNvPr id="31" name="Oval 30"/>
          <p:cNvSpPr/>
          <p:nvPr/>
        </p:nvSpPr>
        <p:spPr>
          <a:xfrm>
            <a:off x="7909560" y="4069080"/>
            <a:ext cx="438912" cy="438912"/>
          </a:xfrm>
          <a:prstGeom prst="ellipse">
            <a:avLst/>
          </a:prstGeom>
          <a:solidFill>
            <a:srgbClr val="F5BE43"/>
          </a:solidFill>
          <a:ln w="13970">
            <a:solidFill>
              <a:srgbClr val="F5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8" y="4599432"/>
            <a:ext cx="960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SAFETY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4069080"/>
            <a:ext cx="438912" cy="438912"/>
          </a:xfrm>
          <a:prstGeom prst="ellipse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13848" y="4599432"/>
            <a:ext cx="9601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HANDOFF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901184"/>
            <a:ext cx="312724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 i="0">
                <a:solidFill>
                  <a:srgbClr val="D1DCED"/>
                </a:solidFill>
                <a:latin typeface="Aptos"/>
              </a:rPr>
              <a:t>Model in the middle.
Everything useful around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i="0">
                <a:solidFill>
                  <a:srgbClr val="A6B1C2"/>
                </a:solidFill>
                <a:latin typeface="Aptos"/>
              </a:rPr>
              <a:t>bSmart  /  an AI harness for durable, human-led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A6B1C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11480"/>
            <a:ext cx="1463040" cy="310896"/>
          </a:xfrm>
          <a:prstGeom prst="roundRect">
            <a:avLst/>
          </a:prstGeom>
          <a:solidFill>
            <a:srgbClr val="0F182C"/>
          </a:solidFill>
          <a:ln w="13970">
            <a:solidFill>
              <a:srgbClr val="0F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WHAT IT GIVES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F182C"/>
                </a:solidFill>
                <a:latin typeface="Aptos"/>
              </a:rPr>
              <a:t>A practical set of features for work that lasts.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89611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778497"/>
                </a:solidFill>
                <a:latin typeface="Aptos"/>
              </a:rPr>
              <a:t>The feature set is organized around how people actually work with an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06324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7" y="2395728"/>
            <a:ext cx="932688" cy="310896"/>
          </a:xfrm>
          <a:prstGeom prst="roundRect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93268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62072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0F182C"/>
                </a:solidFill>
                <a:latin typeface="Aptos"/>
              </a:rPr>
              <a:t>Move work forward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173736" cy="173736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1" y="3401568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1" y="3675888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Keep context and focus attached to the right project.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42232"/>
            <a:ext cx="173736" cy="173736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1" y="4114800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1" y="4389120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Track next actions, handoffs, and safe resume points.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855464"/>
            <a:ext cx="173736" cy="173736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1" y="4828032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Workdocs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1" y="5102352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Keep detailed notes for larger or multi-session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2148840"/>
            <a:ext cx="306324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34255" y="2395728"/>
            <a:ext cx="932688" cy="310896"/>
          </a:xfrm>
          <a:prstGeom prst="roundRect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34255" y="2414016"/>
            <a:ext cx="93268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5" y="2862072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0F182C"/>
                </a:solidFill>
                <a:latin typeface="Aptos"/>
              </a:rPr>
              <a:t>Make good work reusable</a:t>
            </a:r>
          </a:p>
        </p:txBody>
      </p:sp>
      <p:sp>
        <p:nvSpPr>
          <p:cNvPr id="23" name="Oval 22"/>
          <p:cNvSpPr/>
          <p:nvPr/>
        </p:nvSpPr>
        <p:spPr>
          <a:xfrm>
            <a:off x="4361688" y="3429000"/>
            <a:ext cx="173736" cy="173736"/>
          </a:xfrm>
          <a:prstGeom prst="ellipse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401568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75888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Store references, templates, and durable knowledge.</a:t>
            </a:r>
          </a:p>
        </p:txBody>
      </p:sp>
      <p:sp>
        <p:nvSpPr>
          <p:cNvPr id="26" name="Oval 25"/>
          <p:cNvSpPr/>
          <p:nvPr/>
        </p:nvSpPr>
        <p:spPr>
          <a:xfrm>
            <a:off x="4361688" y="4142232"/>
            <a:ext cx="173736" cy="173736"/>
          </a:xfrm>
          <a:prstGeom prst="ellipse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4114800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Decision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389120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Keep important choices and approvals traceable.</a:t>
            </a:r>
          </a:p>
        </p:txBody>
      </p:sp>
      <p:sp>
        <p:nvSpPr>
          <p:cNvPr id="29" name="Oval 28"/>
          <p:cNvSpPr/>
          <p:nvPr/>
        </p:nvSpPr>
        <p:spPr>
          <a:xfrm>
            <a:off x="4361688" y="4855464"/>
            <a:ext cx="173736" cy="173736"/>
          </a:xfrm>
          <a:prstGeom prst="ellipse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4828032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102352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Remember completed work without bloating the TODO list.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26096" y="2148840"/>
            <a:ext cx="3063240" cy="3520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0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827264" y="2395728"/>
            <a:ext cx="932688" cy="310896"/>
          </a:xfrm>
          <a:prstGeom prst="roundRect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27264" y="2414016"/>
            <a:ext cx="93268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2862072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0F182C"/>
                </a:solidFill>
                <a:latin typeface="Aptos"/>
              </a:rPr>
              <a:t>Keep the operating layer healthy</a:t>
            </a:r>
          </a:p>
        </p:txBody>
      </p:sp>
      <p:sp>
        <p:nvSpPr>
          <p:cNvPr id="36" name="Oval 35"/>
          <p:cNvSpPr/>
          <p:nvPr/>
        </p:nvSpPr>
        <p:spPr>
          <a:xfrm>
            <a:off x="7854696" y="3429000"/>
            <a:ext cx="173736" cy="173736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56448" y="3401568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Safety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3675888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Read first, show intent, prefer reversible changes.</a:t>
            </a:r>
          </a:p>
        </p:txBody>
      </p:sp>
      <p:sp>
        <p:nvSpPr>
          <p:cNvPr id="39" name="Oval 38"/>
          <p:cNvSpPr/>
          <p:nvPr/>
        </p:nvSpPr>
        <p:spPr>
          <a:xfrm>
            <a:off x="7854696" y="4142232"/>
            <a:ext cx="173736" cy="173736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56448" y="4114800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389120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Bootstrap the structure and discover protocols.</a:t>
            </a:r>
          </a:p>
        </p:txBody>
      </p:sp>
      <p:sp>
        <p:nvSpPr>
          <p:cNvPr id="42" name="Oval 41"/>
          <p:cNvSpPr/>
          <p:nvPr/>
        </p:nvSpPr>
        <p:spPr>
          <a:xfrm>
            <a:off x="7854696" y="4855464"/>
            <a:ext cx="173736" cy="173736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56448" y="4828032"/>
            <a:ext cx="2267712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C2639"/>
                </a:solidFill>
                <a:latin typeface="Aptos"/>
              </a:rPr>
              <a:t>Extensions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102352"/>
            <a:ext cx="2258568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19" b="0" i="0">
                <a:solidFill>
                  <a:srgbClr val="778497"/>
                </a:solidFill>
                <a:latin typeface="Aptos"/>
              </a:rPr>
              <a:t>Add optional capabilities when they earn their place.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925312"/>
            <a:ext cx="10469880" cy="384048"/>
          </a:xfrm>
          <a:prstGeom prst="roundRect">
            <a:avLst/>
          </a:prstGeom>
          <a:solidFill>
            <a:srgbClr val="0F182C"/>
          </a:solidFill>
          <a:ln w="13970">
            <a:solidFill>
              <a:srgbClr val="0F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7280" y="5980176"/>
            <a:ext cx="100126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The point is not more features. It is a clearer way to use the ones that matter.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510528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i="0">
                <a:solidFill>
                  <a:srgbClr val="778497"/>
                </a:solidFill>
                <a:latin typeface="Aptos"/>
              </a:rPr>
              <a:t>bSmart  /  an AI harness for durable, human-led 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77849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11480"/>
            <a:ext cx="1298448" cy="310896"/>
          </a:xfrm>
          <a:prstGeom prst="roundRect">
            <a:avLst/>
          </a:prstGeom>
          <a:solidFill>
            <a:srgbClr val="0F182C"/>
          </a:solidFill>
          <a:ln w="13970">
            <a:solidFill>
              <a:srgbClr val="0F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29768"/>
            <a:ext cx="129844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HOW IT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600" b="1" i="0">
                <a:solidFill>
                  <a:srgbClr val="0F182C"/>
                </a:solidFill>
                <a:latin typeface="Aptos"/>
              </a:rPr>
              <a:t>The pieces form a simple loop—not a pile of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9144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>
                <a:solidFill>
                  <a:srgbClr val="778497"/>
                </a:solidFill>
                <a:latin typeface="Aptos"/>
              </a:rPr>
              <a:t>Start with context. End with something the next session can use.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95728"/>
            <a:ext cx="548640" cy="548640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383280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Choose the right
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3703320" y="1783080"/>
            <a:ext cx="548640" cy="548640"/>
          </a:xfrm>
          <a:prstGeom prst="ellipse">
            <a:avLst/>
          </a:prstGeom>
          <a:solidFill>
            <a:srgbClr val="49BE97"/>
          </a:solidFill>
          <a:ln w="13970">
            <a:solidFill>
              <a:srgbClr val="49B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856231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96312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770632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Use a repeatable
way of working</a:t>
            </a:r>
          </a:p>
        </p:txBody>
      </p:sp>
      <p:sp>
        <p:nvSpPr>
          <p:cNvPr id="14" name="Oval 13"/>
          <p:cNvSpPr/>
          <p:nvPr/>
        </p:nvSpPr>
        <p:spPr>
          <a:xfrm>
            <a:off x="7178040" y="1783080"/>
            <a:ext cx="548640" cy="548640"/>
          </a:xfrm>
          <a:prstGeom prst="ellipse">
            <a:avLst/>
          </a:prstGeom>
          <a:solidFill>
            <a:srgbClr val="F26752"/>
          </a:solidFill>
          <a:ln w="13970">
            <a:solidFill>
              <a:srgbClr val="F26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1856231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96312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770632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Make intent and
approvals visible</a:t>
            </a:r>
          </a:p>
        </p:txBody>
      </p:sp>
      <p:sp>
        <p:nvSpPr>
          <p:cNvPr id="18" name="Oval 17"/>
          <p:cNvSpPr/>
          <p:nvPr/>
        </p:nvSpPr>
        <p:spPr>
          <a:xfrm>
            <a:off x="9098280" y="3977639"/>
            <a:ext cx="548640" cy="548640"/>
          </a:xfrm>
          <a:prstGeom prst="ellipse">
            <a:avLst/>
          </a:prstGeom>
          <a:solidFill>
            <a:srgbClr val="F5BE43"/>
          </a:solidFill>
          <a:ln w="13970">
            <a:solidFill>
              <a:srgbClr val="F5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4050791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4690872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965192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Leave tasks, notes,
and decisions</a:t>
            </a:r>
          </a:p>
        </p:txBody>
      </p:sp>
      <p:sp>
        <p:nvSpPr>
          <p:cNvPr id="22" name="Oval 21"/>
          <p:cNvSpPr/>
          <p:nvPr/>
        </p:nvSpPr>
        <p:spPr>
          <a:xfrm>
            <a:off x="5386557" y="4569323"/>
            <a:ext cx="548640" cy="548640"/>
          </a:xfrm>
          <a:prstGeom prst="ellipse">
            <a:avLst/>
          </a:prstGeom>
          <a:solidFill>
            <a:srgbClr val="A17DD6"/>
          </a:solidFill>
          <a:ln w="13970">
            <a:solidFill>
              <a:srgbClr val="A1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86557" y="4642475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5221224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5440680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Reuse what proved
valuable</a:t>
            </a:r>
          </a:p>
        </p:txBody>
      </p:sp>
      <p:sp>
        <p:nvSpPr>
          <p:cNvPr id="26" name="Oval 25"/>
          <p:cNvSpPr/>
          <p:nvPr/>
        </p:nvSpPr>
        <p:spPr>
          <a:xfrm>
            <a:off x="1828800" y="4160520"/>
            <a:ext cx="548640" cy="548640"/>
          </a:xfrm>
          <a:prstGeom prst="ellipse">
            <a:avLst/>
          </a:prstGeom>
          <a:solidFill>
            <a:srgbClr val="4A89DC"/>
          </a:solidFill>
          <a:ln w="13970">
            <a:solidFill>
              <a:srgbClr val="4A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0" y="4233672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73752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50" b="1" i="0">
                <a:solidFill>
                  <a:srgbClr val="0F182C"/>
                </a:solidFill>
                <a:latin typeface="Aptos"/>
              </a:rPr>
              <a:t>NEXT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5148072"/>
            <a:ext cx="173736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 i="0">
                <a:solidFill>
                  <a:srgbClr val="778497"/>
                </a:solidFill>
                <a:latin typeface="Aptos"/>
              </a:rPr>
              <a:t>Pick up with
less re-explaining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463040" y="2176272"/>
            <a:ext cx="2240280" cy="493776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51960" y="1938528"/>
            <a:ext cx="2926080" cy="0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26679" y="2286000"/>
            <a:ext cx="1600201" cy="1691639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>
          <a:xfrm flipH="1">
            <a:off x="6030839" y="4526280"/>
            <a:ext cx="3113161" cy="344795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 flipH="1" flipV="1">
            <a:off x="2377440" y="4526280"/>
            <a:ext cx="2913475" cy="414714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234440" y="2926080"/>
            <a:ext cx="594360" cy="1234440"/>
          </a:xfrm>
          <a:prstGeom prst="line">
            <a:avLst/>
          </a:prstGeom>
          <a:ln w="25400">
            <a:solidFill>
              <a:srgbClr val="BEC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77639" y="3127248"/>
            <a:ext cx="3063240" cy="868680"/>
          </a:xfrm>
          <a:prstGeom prst="roundRect">
            <a:avLst/>
          </a:prstGeom>
          <a:solidFill>
            <a:srgbClr val="F8F6F0"/>
          </a:solidFill>
          <a:ln w="13970">
            <a:solidFill>
              <a:srgbClr val="E0D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87952" y="3296453"/>
            <a:ext cx="26517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 dirty="0">
                <a:solidFill>
                  <a:srgbClr val="0F182C"/>
                </a:solidFill>
                <a:latin typeface="Aptos"/>
              </a:rPr>
              <a:t>AI work becomes
cumulative.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897880"/>
            <a:ext cx="10515600" cy="411480"/>
          </a:xfrm>
          <a:prstGeom prst="roundRect">
            <a:avLst/>
          </a:prstGeom>
          <a:solidFill>
            <a:srgbClr val="E8F3FB"/>
          </a:solidFill>
          <a:ln w="13970">
            <a:solidFill>
              <a:srgbClr val="CEE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5989320"/>
            <a:ext cx="9966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50" b="1" i="0">
                <a:solidFill>
                  <a:srgbClr val="0F182C"/>
                </a:solidFill>
                <a:latin typeface="Aptos"/>
              </a:rPr>
              <a:t>Portable core  •  local projects  •  optional extensions  •  operator stays in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7315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i="0">
                <a:solidFill>
                  <a:srgbClr val="778497"/>
                </a:solidFill>
                <a:latin typeface="Aptos"/>
              </a:rPr>
              <a:t>bSmart  /  an AI harness for durable, human-led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1" i="0">
                <a:solidFill>
                  <a:srgbClr val="77849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491</Words>
  <Application>Microsoft Office PowerPoint</Application>
  <PresentationFormat>Widescreen</PresentationFormat>
  <Paragraphs>77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bSmart — an AI harness for durable, human-led work</dc:title>
  <dc:subject>Three-slide bSmart feature overview</dc:subject>
  <dc:creator>bSmart project</dc:creator>
  <cp:keywords/>
  <dc:description>generated using python-pptx</dc:description>
  <cp:lastModifiedBy>Erling Hugo Jensen</cp:lastModifiedBy>
  <cp:revision>2</cp:revision>
  <dcterms:created xsi:type="dcterms:W3CDTF">2013-01-27T09:14:16Z</dcterms:created>
  <dcterms:modified xsi:type="dcterms:W3CDTF">2026-08-26T07:01:33Z</dcterms:modified>
  <cp:category/>
</cp:coreProperties>
</file>